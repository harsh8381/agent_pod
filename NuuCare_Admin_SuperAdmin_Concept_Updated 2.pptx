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reference is the user-provided application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patient names and values are illustrative mock data. The intended interaction is: default all-patient overview, then click the current-stage label to open the selected patient stage and workflow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role-permission model. Final permissions should be aligned with the organization's security and compliance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2881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NuuCare | Clinical Intelligence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56064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Administration Experience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2606040" y="3200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1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Admin Navigation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615184" y="74980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58C"/>
                </a:solidFill>
              </a:rPr>
              <a:t>A highlighted parent module with two focused experiences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2286000" cy="6382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438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Nuu</a:t>
            </a:r>
            <a:r>
              <a:rPr lang="en-US" sz="2000" b="1" dirty="0">
                <a:solidFill>
                  <a:srgbClr val="4DE0CF"/>
                </a:solidFill>
              </a:rPr>
              <a:t>Care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7863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</a:rPr>
              <a:t>Clinical Intelligence Platform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032" y="1170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758C"/>
                </a:solidFill>
              </a:rPr>
              <a:t>WORKSPACE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Consultations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49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EHR Demo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IPD Billing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Clinical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4015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913632"/>
            <a:ext cx="1764792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40965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70" kern="0" dirty="0">
                <a:solidFill>
                  <a:srgbClr val="66758C"/>
                </a:solidFill>
              </a:rPr>
              <a:t>ADMINISTRATION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01168" y="4352544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E9F7F5"/>
          </a:solidFill>
          <a:ln w="15240">
            <a:solidFill>
              <a:srgbClr val="178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448970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8A80"/>
                </a:solidFill>
              </a:rPr>
              <a:t>◆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1208" y="4453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65F"/>
                </a:solidFill>
              </a:rPr>
              <a:t>Admin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73936" y="4453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665F"/>
                </a:solidFill>
              </a:rPr>
              <a:t>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4864608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286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Admin Dashboard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94360" y="52760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58C"/>
                </a:solidFill>
              </a:rPr>
              <a:t>Super Admin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56032" y="5669280"/>
            <a:ext cx="1764792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5897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E"/>
                </a:solidFill>
              </a:rPr>
              <a:t>Settings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6199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E"/>
                </a:solidFill>
              </a:rPr>
              <a:t>Help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78608" y="1170432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16352" y="1389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E"/>
                </a:solidFill>
              </a:rPr>
              <a:t>Current application context</a:t>
            </a:r>
            <a:endParaRPr lang="en-US" sz="1300" dirty="0"/>
          </a:p>
        </p:txBody>
      </p:sp>
      <p:pic>
        <p:nvPicPr>
          <p:cNvPr id="28" name="Image 0" descr="/mnt/data/image (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358866"/>
            <a:ext cx="3886200" cy="21859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816352" y="5212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C"/>
                </a:solidFill>
              </a:rPr>
              <a:t>The new Admin module sits alongside the existing clinical workspace without changing the current navigation model.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150608" y="1170432"/>
            <a:ext cx="45262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45236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E"/>
                </a:solidFill>
              </a:rPr>
              <a:t>Admin module structure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7543800" y="1901952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45552" y="2066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189720" y="20848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7FFFA"/>
                </a:solidFill>
              </a:rPr>
              <a:t>Operational control center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390888" y="2468880"/>
            <a:ext cx="1" cy="420624"/>
          </a:xfrm>
          <a:prstGeom prst="line">
            <a:avLst/>
          </a:prstGeom>
          <a:noFill/>
          <a:ln w="25400">
            <a:solidFill>
              <a:srgbClr val="178A8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543800" y="2889504"/>
            <a:ext cx="3703320" cy="749808"/>
          </a:xfrm>
          <a:prstGeom prst="roundRect">
            <a:avLst>
              <a:gd name="adj" fmla="val 9756"/>
            </a:avLst>
          </a:prstGeom>
          <a:solidFill>
            <a:srgbClr val="E9F7F5"/>
          </a:solidFill>
          <a:ln w="15240">
            <a:solidFill>
              <a:srgbClr val="0D665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72400" y="3063240"/>
            <a:ext cx="384048" cy="384048"/>
          </a:xfrm>
          <a:prstGeom prst="ellipse">
            <a:avLst/>
          </a:prstGeom>
          <a:solidFill>
            <a:srgbClr val="0D665F"/>
          </a:solidFill>
          <a:ln w="12700">
            <a:solidFill>
              <a:srgbClr val="0D665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45552" y="315468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▦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302752" y="30358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65F"/>
                </a:solidFill>
              </a:rPr>
              <a:t>Admin Dashboard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302752" y="3300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</a:rPr>
              <a:t>Patient overview, workflow stages, filters and exceptions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543800" y="4005072"/>
            <a:ext cx="3703320" cy="749808"/>
          </a:xfrm>
          <a:prstGeom prst="roundRect">
            <a:avLst>
              <a:gd name="adj" fmla="val 9756"/>
            </a:avLst>
          </a:prstGeom>
          <a:solidFill>
            <a:srgbClr val="EEF3FF"/>
          </a:solidFill>
          <a:ln w="15240">
            <a:solidFill>
              <a:srgbClr val="2E6B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72400" y="4178808"/>
            <a:ext cx="384048" cy="384048"/>
          </a:xfrm>
          <a:prstGeom prst="ellipse">
            <a:avLst/>
          </a:prstGeom>
          <a:solidFill>
            <a:srgbClr val="2E6B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45552" y="427024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302752" y="41513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FF"/>
                </a:solidFill>
              </a:rPr>
              <a:t>Super Admin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302752" y="44165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</a:rPr>
              <a:t>Users, roles, permissions and module-level access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9390888" y="3639312"/>
            <a:ext cx="1" cy="365760"/>
          </a:xfrm>
          <a:prstGeom prst="line">
            <a:avLst/>
          </a:prstGeom>
          <a:noFill/>
          <a:ln w="19050">
            <a:solidFill>
              <a:srgbClr val="178A8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543800" y="5084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E"/>
                </a:solidFill>
              </a:rPr>
              <a:t>Outcome: simple navigation, clear separation of monitoring and access control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2286000" cy="6382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438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Nuu</a:t>
            </a:r>
            <a:r>
              <a:rPr lang="en-US" sz="2000" b="1" dirty="0">
                <a:solidFill>
                  <a:srgbClr val="4DE0CF"/>
                </a:solidFill>
              </a:rPr>
              <a:t>Care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" y="7863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</a:rPr>
              <a:t>Clinical Intelligence Platform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56032" y="1170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758C"/>
                </a:solidFill>
              </a:rPr>
              <a:t>WORKSPACE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Consultations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49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EHR Demo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IPD Billing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Clinical 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4015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913632"/>
            <a:ext cx="1764792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40965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70" kern="0" dirty="0">
                <a:solidFill>
                  <a:srgbClr val="66758C"/>
                </a:solidFill>
              </a:rPr>
              <a:t>ADMINISTRATION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01168" y="4352544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E9F7F5"/>
          </a:solidFill>
          <a:ln w="15240">
            <a:solidFill>
              <a:srgbClr val="178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448970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8A80"/>
                </a:solidFill>
              </a:rPr>
              <a:t>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1208" y="4453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65F"/>
                </a:solidFill>
              </a:rPr>
              <a:t>Admin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73936" y="4453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665F"/>
                </a:solidFill>
              </a:rPr>
              <a:t>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4864608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9286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Admin Dashboard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594360" y="52760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58C"/>
                </a:solidFill>
              </a:rPr>
              <a:t>Super Admin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56032" y="5669280"/>
            <a:ext cx="1764792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897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E"/>
                </a:solidFill>
              </a:rPr>
              <a:t>Settings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6199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E"/>
                </a:solidFill>
              </a:rPr>
              <a:t>Help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E"/>
                </a:solidFill>
              </a:rPr>
              <a:t>Admin Dashboard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2615184" y="822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C"/>
                </a:solidFill>
              </a:rPr>
              <a:t>All-patient overview with workflow-stage drill-down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06040" y="11430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Search patient or ID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136245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F0F3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4056" y="14904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58C"/>
                </a:solidFill>
              </a:rPr>
              <a:t>Patient name / MRN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864608" y="11430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Workflow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136245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F0F3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14904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58C"/>
                </a:solidFill>
              </a:rPr>
              <a:t>All workflows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83680" y="1481328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C"/>
                </a:solidFill>
              </a:rPr>
              <a:t>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23176" y="11430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Stage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23176" y="136245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F0F3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51192" y="14904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58C"/>
                </a:solidFill>
              </a:rPr>
              <a:t>All stages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842248" y="1481328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C"/>
                </a:solidFill>
              </a:rPr>
              <a:t>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81744" y="11430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Date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381744" y="1362456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F0F3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14904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58C"/>
                </a:solidFill>
              </a:rPr>
              <a:t>Last 30 days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11100816" y="1481328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58C"/>
                </a:solidFill>
              </a:rPr>
              <a:t>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06040" y="1938528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633472" y="1965960"/>
            <a:ext cx="1975104" cy="9144"/>
          </a:xfrm>
          <a:prstGeom prst="line">
            <a:avLst/>
          </a:prstGeom>
          <a:noFill/>
          <a:ln w="30480">
            <a:solidFill>
              <a:srgbClr val="178A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213969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58C"/>
                </a:solidFill>
              </a:rPr>
              <a:t>TOTAL PATIENTS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752344" y="23500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1,248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864608" y="1938528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1965960"/>
            <a:ext cx="1975104" cy="9144"/>
          </a:xfrm>
          <a:prstGeom prst="line">
            <a:avLst/>
          </a:prstGeom>
          <a:noFill/>
          <a:ln w="30480">
            <a:solidFill>
              <a:srgbClr val="2E6B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213969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58C"/>
                </a:solidFill>
              </a:rPr>
              <a:t>IN PROGRESS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5010912" y="23500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286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7123176" y="1938528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1965960"/>
            <a:ext cx="1975104" cy="9144"/>
          </a:xfrm>
          <a:prstGeom prst="line">
            <a:avLst/>
          </a:prstGeom>
          <a:noFill/>
          <a:ln w="30480">
            <a:solidFill>
              <a:srgbClr val="C761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213969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58C"/>
                </a:solidFill>
              </a:rPr>
              <a:t>NEEDS ATTENTION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7269480" y="23500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42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9381744" y="1938528"/>
            <a:ext cx="202996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409176" y="1965960"/>
            <a:ext cx="1975104" cy="9144"/>
          </a:xfrm>
          <a:prstGeom prst="line">
            <a:avLst/>
          </a:prstGeom>
          <a:noFill/>
          <a:ln w="30480">
            <a:solidFill>
              <a:srgbClr val="168A4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28048" y="213969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58C"/>
                </a:solidFill>
              </a:rPr>
              <a:t>COMPLETED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9528048" y="23500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920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2606040" y="2944368"/>
            <a:ext cx="57150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852928" y="3172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E"/>
                </a:solidFill>
              </a:rPr>
              <a:t>All patients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4901184" y="32004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C"/>
                </a:solidFill>
              </a:rPr>
              <a:t>Click a stage to open patient workflow details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852928" y="352958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58C"/>
                </a:solidFill>
              </a:rPr>
              <a:t>Patient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4407408" y="352958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58C"/>
                </a:solidFill>
              </a:rPr>
              <a:t>MRN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5285232" y="352958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58C"/>
                </a:solidFill>
              </a:rPr>
              <a:t>Workflow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419088" y="352958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58C"/>
                </a:solidFill>
              </a:rPr>
              <a:t>Current stage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7680960" y="35295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6758C"/>
                </a:solidFill>
              </a:rPr>
              <a:t>Updated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2852928" y="3730752"/>
            <a:ext cx="5166360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52928" y="388620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Aarav Mehta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407408" y="388620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58C"/>
                </a:solidFill>
              </a:rPr>
              <a:t>MRN-10482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5285232" y="3886200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12E"/>
                </a:solidFill>
              </a:rPr>
              <a:t>Consultation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6419088" y="3849624"/>
            <a:ext cx="1078992" cy="246888"/>
          </a:xfrm>
          <a:prstGeom prst="roundRect">
            <a:avLst>
              <a:gd name="adj" fmla="val 3703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83096" y="392734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E6BFF"/>
                </a:solidFill>
              </a:rPr>
              <a:t>Clinical Review</a:t>
            </a:r>
            <a:endParaRPr lang="en-US" sz="770" dirty="0"/>
          </a:p>
        </p:txBody>
      </p:sp>
      <p:sp>
        <p:nvSpPr>
          <p:cNvPr id="71" name="Text 69"/>
          <p:cNvSpPr/>
          <p:nvPr/>
        </p:nvSpPr>
        <p:spPr>
          <a:xfrm>
            <a:off x="7680960" y="388620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8C"/>
                </a:solidFill>
              </a:rPr>
              <a:t>10:42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761488" y="4288536"/>
            <a:ext cx="5321808" cy="393192"/>
          </a:xfrm>
          <a:prstGeom prst="roundRect">
            <a:avLst>
              <a:gd name="adj" fmla="val 9302"/>
            </a:avLst>
          </a:prstGeom>
          <a:solidFill>
            <a:srgbClr val="F7FAFC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52928" y="436168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Maya Shah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407408" y="4361688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58C"/>
                </a:solidFill>
              </a:rPr>
              <a:t>MRN-10479</a:t>
            </a:r>
            <a:endParaRPr lang="en-US" sz="880" dirty="0"/>
          </a:p>
        </p:txBody>
      </p:sp>
      <p:sp>
        <p:nvSpPr>
          <p:cNvPr id="75" name="Text 73"/>
          <p:cNvSpPr/>
          <p:nvPr/>
        </p:nvSpPr>
        <p:spPr>
          <a:xfrm>
            <a:off x="5285232" y="4361688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12E"/>
                </a:solidFill>
              </a:rPr>
              <a:t>IPD Journey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6419088" y="4325112"/>
            <a:ext cx="1078992" cy="246888"/>
          </a:xfrm>
          <a:prstGeom prst="roundRect">
            <a:avLst>
              <a:gd name="adj" fmla="val 37037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83096" y="4402836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7667D9"/>
                </a:solidFill>
              </a:rPr>
              <a:t>Coding</a:t>
            </a:r>
            <a:endParaRPr lang="en-US" sz="770" dirty="0"/>
          </a:p>
        </p:txBody>
      </p:sp>
      <p:sp>
        <p:nvSpPr>
          <p:cNvPr id="78" name="Text 76"/>
          <p:cNvSpPr/>
          <p:nvPr/>
        </p:nvSpPr>
        <p:spPr>
          <a:xfrm>
            <a:off x="7680960" y="43616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8C"/>
                </a:solidFill>
              </a:rPr>
              <a:t>10:18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852928" y="483717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Rohan Iyer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4407408" y="4837176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58C"/>
                </a:solidFill>
              </a:rPr>
              <a:t>MRN-10471</a:t>
            </a:r>
            <a:endParaRPr lang="en-US" sz="880" dirty="0"/>
          </a:p>
        </p:txBody>
      </p:sp>
      <p:sp>
        <p:nvSpPr>
          <p:cNvPr id="81" name="Text 79"/>
          <p:cNvSpPr/>
          <p:nvPr/>
        </p:nvSpPr>
        <p:spPr>
          <a:xfrm>
            <a:off x="5285232" y="4837176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12E"/>
                </a:solidFill>
              </a:rPr>
              <a:t>Consultation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6419088" y="4800600"/>
            <a:ext cx="1078992" cy="246888"/>
          </a:xfrm>
          <a:prstGeom prst="roundRect">
            <a:avLst>
              <a:gd name="adj" fmla="val 37037"/>
            </a:avLst>
          </a:prstGeom>
          <a:solidFill>
            <a:srgbClr val="FFF4EA"/>
          </a:solidFill>
          <a:ln w="12700">
            <a:solidFill>
              <a:srgbClr val="FFF4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83096" y="4878324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C7610A"/>
                </a:solidFill>
              </a:rPr>
              <a:t>RCM Review</a:t>
            </a:r>
            <a:endParaRPr lang="en-US" sz="770" dirty="0"/>
          </a:p>
        </p:txBody>
      </p:sp>
      <p:sp>
        <p:nvSpPr>
          <p:cNvPr id="84" name="Text 82"/>
          <p:cNvSpPr/>
          <p:nvPr/>
        </p:nvSpPr>
        <p:spPr>
          <a:xfrm>
            <a:off x="7680960" y="483717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8C"/>
                </a:solidFill>
              </a:rPr>
              <a:t>09:56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852928" y="53126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12E"/>
                </a:solidFill>
              </a:rPr>
              <a:t>Anaya Patel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407408" y="5312664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58C"/>
                </a:solidFill>
              </a:rPr>
              <a:t>MRN-10466</a:t>
            </a:r>
            <a:endParaRPr lang="en-US" sz="880" dirty="0"/>
          </a:p>
        </p:txBody>
      </p:sp>
      <p:sp>
        <p:nvSpPr>
          <p:cNvPr id="87" name="Text 85"/>
          <p:cNvSpPr/>
          <p:nvPr/>
        </p:nvSpPr>
        <p:spPr>
          <a:xfrm>
            <a:off x="5285232" y="5312664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12E"/>
                </a:solidFill>
              </a:rPr>
              <a:t>IPD Journey</a:t>
            </a:r>
            <a:endParaRPr lang="en-US" sz="880" dirty="0"/>
          </a:p>
        </p:txBody>
      </p:sp>
      <p:sp>
        <p:nvSpPr>
          <p:cNvPr id="88" name="Shape 86"/>
          <p:cNvSpPr/>
          <p:nvPr/>
        </p:nvSpPr>
        <p:spPr>
          <a:xfrm>
            <a:off x="6419088" y="5276088"/>
            <a:ext cx="1078992" cy="246888"/>
          </a:xfrm>
          <a:prstGeom prst="roundRect">
            <a:avLst>
              <a:gd name="adj" fmla="val 3703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83096" y="5353812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68A43"/>
                </a:solidFill>
              </a:rPr>
              <a:t>Completed</a:t>
            </a:r>
            <a:endParaRPr lang="en-US" sz="770" dirty="0"/>
          </a:p>
        </p:txBody>
      </p:sp>
      <p:sp>
        <p:nvSpPr>
          <p:cNvPr id="90" name="Text 88"/>
          <p:cNvSpPr/>
          <p:nvPr/>
        </p:nvSpPr>
        <p:spPr>
          <a:xfrm>
            <a:off x="7680960" y="531266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58C"/>
                </a:solidFill>
              </a:rPr>
              <a:t>09:30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8549640" y="2944368"/>
            <a:ext cx="312724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78A80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8796528" y="317296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E"/>
                </a:solidFill>
              </a:rPr>
              <a:t>Selected patient details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10698480" y="3456432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744200" y="35067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67D9"/>
                </a:solidFill>
              </a:rPr>
              <a:t>CODING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796528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12E"/>
                </a:solidFill>
              </a:rPr>
              <a:t>Maya Shah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8796528" y="37947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58C"/>
                </a:solidFill>
              </a:rPr>
              <a:t>MRN-10479  •  IPD Journey</a:t>
            </a:r>
            <a:endParaRPr lang="en-US" sz="880" dirty="0"/>
          </a:p>
        </p:txBody>
      </p:sp>
      <p:sp>
        <p:nvSpPr>
          <p:cNvPr id="97" name="Shape 95"/>
          <p:cNvSpPr/>
          <p:nvPr/>
        </p:nvSpPr>
        <p:spPr>
          <a:xfrm>
            <a:off x="8796528" y="4069080"/>
            <a:ext cx="2606040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96528" y="427939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Current stage</a:t>
            </a:r>
            <a:endParaRPr lang="en-US" sz="830" dirty="0"/>
          </a:p>
        </p:txBody>
      </p:sp>
      <p:sp>
        <p:nvSpPr>
          <p:cNvPr id="99" name="Text 97"/>
          <p:cNvSpPr/>
          <p:nvPr/>
        </p:nvSpPr>
        <p:spPr>
          <a:xfrm>
            <a:off x="9802368" y="4279392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7212E"/>
                </a:solidFill>
              </a:rPr>
              <a:t>Coding</a:t>
            </a:r>
            <a:endParaRPr lang="en-US" sz="870" dirty="0"/>
          </a:p>
        </p:txBody>
      </p:sp>
      <p:sp>
        <p:nvSpPr>
          <p:cNvPr id="100" name="Text 98"/>
          <p:cNvSpPr/>
          <p:nvPr/>
        </p:nvSpPr>
        <p:spPr>
          <a:xfrm>
            <a:off x="8796528" y="4590288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Stage owner</a:t>
            </a:r>
            <a:endParaRPr lang="en-US" sz="830" dirty="0"/>
          </a:p>
        </p:txBody>
      </p:sp>
      <p:sp>
        <p:nvSpPr>
          <p:cNvPr id="101" name="Text 99"/>
          <p:cNvSpPr/>
          <p:nvPr/>
        </p:nvSpPr>
        <p:spPr>
          <a:xfrm>
            <a:off x="9802368" y="459028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7212E"/>
                </a:solidFill>
              </a:rPr>
              <a:t>Coding Specialist</a:t>
            </a:r>
            <a:endParaRPr lang="en-US" sz="870" dirty="0"/>
          </a:p>
        </p:txBody>
      </p:sp>
      <p:sp>
        <p:nvSpPr>
          <p:cNvPr id="102" name="Text 100"/>
          <p:cNvSpPr/>
          <p:nvPr/>
        </p:nvSpPr>
        <p:spPr>
          <a:xfrm>
            <a:off x="8796528" y="4901184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Entered stage</a:t>
            </a:r>
            <a:endParaRPr lang="en-US" sz="830" dirty="0"/>
          </a:p>
        </p:txBody>
      </p:sp>
      <p:sp>
        <p:nvSpPr>
          <p:cNvPr id="103" name="Text 101"/>
          <p:cNvSpPr/>
          <p:nvPr/>
        </p:nvSpPr>
        <p:spPr>
          <a:xfrm>
            <a:off x="9802368" y="4901184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7212E"/>
                </a:solidFill>
              </a:rPr>
              <a:t>08 Oct, 09:40</a:t>
            </a:r>
            <a:endParaRPr lang="en-US" sz="870" dirty="0"/>
          </a:p>
        </p:txBody>
      </p:sp>
      <p:sp>
        <p:nvSpPr>
          <p:cNvPr id="104" name="Text 102"/>
          <p:cNvSpPr/>
          <p:nvPr/>
        </p:nvSpPr>
        <p:spPr>
          <a:xfrm>
            <a:off x="8796528" y="521208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Pending item</a:t>
            </a:r>
            <a:endParaRPr lang="en-US" sz="830" dirty="0"/>
          </a:p>
        </p:txBody>
      </p:sp>
      <p:sp>
        <p:nvSpPr>
          <p:cNvPr id="105" name="Text 103"/>
          <p:cNvSpPr/>
          <p:nvPr/>
        </p:nvSpPr>
        <p:spPr>
          <a:xfrm>
            <a:off x="9802368" y="5212080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7212E"/>
                </a:solidFill>
              </a:rPr>
              <a:t>Diagnosis clarification</a:t>
            </a:r>
            <a:endParaRPr lang="en-US" sz="870" dirty="0"/>
          </a:p>
        </p:txBody>
      </p:sp>
      <p:sp>
        <p:nvSpPr>
          <p:cNvPr id="106" name="Text 104"/>
          <p:cNvSpPr/>
          <p:nvPr/>
        </p:nvSpPr>
        <p:spPr>
          <a:xfrm>
            <a:off x="8796528" y="5522976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Priority</a:t>
            </a:r>
            <a:endParaRPr lang="en-US" sz="830" dirty="0"/>
          </a:p>
        </p:txBody>
      </p:sp>
      <p:sp>
        <p:nvSpPr>
          <p:cNvPr id="107" name="Text 105"/>
          <p:cNvSpPr/>
          <p:nvPr/>
        </p:nvSpPr>
        <p:spPr>
          <a:xfrm>
            <a:off x="9802368" y="5522976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C7610A"/>
                </a:solidFill>
              </a:rPr>
              <a:t>Needs attention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2286000" cy="6382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438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E"/>
                </a:solidFill>
              </a:rPr>
              <a:t>Nuu</a:t>
            </a:r>
            <a:r>
              <a:rPr lang="en-US" sz="2000" b="1" dirty="0">
                <a:solidFill>
                  <a:srgbClr val="4DE0CF"/>
                </a:solidFill>
              </a:rPr>
              <a:t>Care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6032" y="7863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58C"/>
                </a:solidFill>
              </a:rPr>
              <a:t>Clinical Intelligence Platform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56032" y="1170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758C"/>
                </a:solidFill>
              </a:rPr>
              <a:t>WORKSPACE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65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Consultations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494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EHR Demo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IPD Billing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Clinical 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4015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12E"/>
                </a:solidFill>
              </a:rPr>
              <a:t>Codes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913632"/>
            <a:ext cx="1764792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40965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70" kern="0" dirty="0">
                <a:solidFill>
                  <a:srgbClr val="66758C"/>
                </a:solidFill>
              </a:rPr>
              <a:t>ADMINISTRATION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01168" y="4352544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E9F7F5"/>
          </a:solidFill>
          <a:ln w="15240">
            <a:solidFill>
              <a:srgbClr val="178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448970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8A80"/>
                </a:solidFill>
              </a:rPr>
              <a:t>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1208" y="44531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65F"/>
                </a:solidFill>
              </a:rPr>
              <a:t>Admin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73936" y="44531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665F"/>
                </a:solidFill>
              </a:rPr>
              <a:t>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92861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58C"/>
                </a:solidFill>
              </a:rPr>
              <a:t>Admin Dashboard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38912" y="5212080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27608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Super Admin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56032" y="5669280"/>
            <a:ext cx="1764792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897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E"/>
                </a:solidFill>
              </a:rPr>
              <a:t>Settings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6199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12E"/>
                </a:solidFill>
              </a:rPr>
              <a:t>Help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E"/>
                </a:solidFill>
              </a:rPr>
              <a:t>Super Admin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2615184" y="82296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58C"/>
                </a:solidFill>
              </a:rPr>
              <a:t>Role-based access so every team sees only the modules and actions relevant to the role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06040" y="1234440"/>
            <a:ext cx="2834640" cy="48920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852928" y="14813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E"/>
                </a:solidFill>
              </a:rPr>
              <a:t>Users &amp; roles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852928" y="1847088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F0F3F7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197510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C"/>
                </a:solidFill>
              </a:rPr>
              <a:t>Search user or role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61488" y="2395728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E9F7F5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2487168"/>
            <a:ext cx="347472" cy="347472"/>
          </a:xfrm>
          <a:prstGeom prst="ellipse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0088" y="25968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01568" y="24780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E"/>
                </a:solidFill>
              </a:rPr>
              <a:t>Coding Specialist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1568" y="269748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Coding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2926080" y="3145536"/>
            <a:ext cx="347472" cy="347472"/>
          </a:xfrm>
          <a:prstGeom prst="ellipse">
            <a:avLst/>
          </a:prstGeom>
          <a:solidFill>
            <a:srgbClr val="AAB5C2"/>
          </a:solidFill>
          <a:ln w="12700">
            <a:solidFill>
              <a:srgbClr val="AAB5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0088" y="3255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01568" y="31363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E"/>
                </a:solidFill>
              </a:rPr>
              <a:t>RCM Analyst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1568" y="33558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RCM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926080" y="3803904"/>
            <a:ext cx="347472" cy="347472"/>
          </a:xfrm>
          <a:prstGeom prst="ellipse">
            <a:avLst/>
          </a:prstGeom>
          <a:solidFill>
            <a:srgbClr val="AAB5C2"/>
          </a:solidFill>
          <a:ln w="12700">
            <a:solidFill>
              <a:srgbClr val="AAB5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39136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401568" y="37947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E"/>
                </a:solidFill>
              </a:rPr>
              <a:t>Clinical Reviewer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01568" y="401421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Clinical Review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2926080" y="4462272"/>
            <a:ext cx="347472" cy="347472"/>
          </a:xfrm>
          <a:prstGeom prst="ellipse">
            <a:avLst/>
          </a:prstGeom>
          <a:solidFill>
            <a:srgbClr val="AAB5C2"/>
          </a:solidFill>
          <a:ln w="12700">
            <a:solidFill>
              <a:srgbClr val="AAB5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0088" y="457200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01568" y="4453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E"/>
                </a:solidFill>
              </a:rPr>
              <a:t>Operations Admin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01568" y="467258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All workflows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852928" y="5413248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55848" y="55595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Add user / role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15000" y="1234440"/>
            <a:ext cx="5961888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DE4EB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98932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E"/>
                </a:solidFill>
              </a:rPr>
              <a:t>Role permissions: Coding Specialist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241280" y="1453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87000" y="1504188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8A43"/>
                </a:solidFill>
              </a:rPr>
              <a:t>ACTIVE ROLE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989320" y="19659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758C"/>
                </a:solidFill>
              </a:rPr>
              <a:t>Module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49640" y="1965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58C"/>
                </a:solidFill>
              </a:rPr>
              <a:t>View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308592" y="1965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58C"/>
                </a:solidFill>
              </a:rPr>
              <a:t>Edit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85832" y="19659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58C"/>
                </a:solidFill>
              </a:rPr>
              <a:t>Approve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927080" y="19659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58C"/>
                </a:solidFill>
              </a:rPr>
              <a:t>Admin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89320" y="2221992"/>
            <a:ext cx="5257800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25312" y="2331720"/>
            <a:ext cx="5413248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9320" y="24048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E"/>
                </a:solidFill>
              </a:rPr>
              <a:t>Clinical Overview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714232" y="2386584"/>
            <a:ext cx="228600" cy="228600"/>
          </a:xfrm>
          <a:prstGeom prst="ellipse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55380" y="2446020"/>
            <a:ext cx="1463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473184" y="2386584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14432" y="2386584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027664" y="2386584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88036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E"/>
                </a:solidFill>
              </a:rPr>
              <a:t>Clinical Review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714232" y="2862072"/>
            <a:ext cx="228600" cy="228600"/>
          </a:xfrm>
          <a:prstGeom prst="ellipse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55380" y="2921508"/>
            <a:ext cx="1463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473184" y="2862072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14432" y="2862072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27664" y="2862072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25312" y="3282696"/>
            <a:ext cx="5413248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89320" y="33558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E"/>
                </a:solidFill>
              </a:rPr>
              <a:t>Codes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714232" y="3337560"/>
            <a:ext cx="228600" cy="228600"/>
          </a:xfrm>
          <a:prstGeom prst="ellipse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55380" y="3396996"/>
            <a:ext cx="1463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473184" y="3337560"/>
            <a:ext cx="228600" cy="228600"/>
          </a:xfrm>
          <a:prstGeom prst="ellipse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14332" y="3396996"/>
            <a:ext cx="1463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314432" y="3337560"/>
            <a:ext cx="228600" cy="228600"/>
          </a:xfrm>
          <a:prstGeom prst="ellipse">
            <a:avLst/>
          </a:prstGeom>
          <a:solidFill>
            <a:srgbClr val="178A80"/>
          </a:solidFill>
          <a:ln w="12700">
            <a:solidFill>
              <a:srgbClr val="178A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55580" y="3396996"/>
            <a:ext cx="1463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1027664" y="3337560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89320" y="38313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12E"/>
                </a:solidFill>
              </a:rPr>
              <a:t>RCM Workspace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714232" y="3813048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73184" y="3813048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314432" y="3813048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027664" y="3813048"/>
            <a:ext cx="228600" cy="228600"/>
          </a:xfrm>
          <a:prstGeom prst="ellipse">
            <a:avLst/>
          </a:prstGeom>
          <a:solidFill>
            <a:srgbClr val="EDF1F5"/>
          </a:solidFill>
          <a:ln w="12700">
            <a:solidFill>
              <a:srgbClr val="CBD4D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5340096"/>
            <a:ext cx="5257800" cy="1"/>
          </a:xfrm>
          <a:prstGeom prst="line">
            <a:avLst/>
          </a:prstGeom>
          <a:noFill/>
          <a:ln w="12700">
            <a:solidFill>
              <a:srgbClr val="DDE4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55046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758C"/>
                </a:solidFill>
              </a:rPr>
              <a:t>Access model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812280" y="55046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D665F"/>
                </a:solidFill>
              </a:rPr>
              <a:t>Module → action → data scope</a:t>
            </a:r>
            <a:endParaRPr lang="en-US" sz="1020" dirty="0"/>
          </a:p>
        </p:txBody>
      </p:sp>
      <p:sp>
        <p:nvSpPr>
          <p:cNvPr id="89" name="Text 87"/>
          <p:cNvSpPr/>
          <p:nvPr/>
        </p:nvSpPr>
        <p:spPr>
          <a:xfrm>
            <a:off x="8942832" y="5522976"/>
            <a:ext cx="2267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66758C"/>
                </a:solidFill>
              </a:rPr>
              <a:t>Changes are auditable and centrally managed.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A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NuuCare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NuuCare Administration Experience</dc:title>
  <dc:subject>NuuCare Admin and Super Admin Concept</dc:subject>
  <dc:creator>Deepak Pandey-GN</dc:creator>
  <lastModifiedBy>Deepak Pandey-GN</lastModifiedBy>
  <revision>1</revision>
  <dcterms:created xsi:type="dcterms:W3CDTF">2026-10-08T07:56:14.5426435Z</dcterms:created>
  <dcterms:modified xsi:type="dcterms:W3CDTF">2026-10-08T07:56:14.5426435Z</dcterms:modified>
</coreProperties>
</file>